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2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F22C4D"/>
    <a:srgbClr val="724EF8"/>
    <a:srgbClr val="641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AEC6-D698-9CCE-92CF-D73B072AA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2860E-29C2-3F87-0F01-2FFC2C9A3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A8055-5388-E707-1327-9DFEBF4F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9AA5-F1AB-FE79-FD43-E8F4D072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BB1D-31E9-7954-FA7C-1CC87FD5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4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A319-8CEC-395E-CAEC-15DE0FC8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B7D07-618F-F448-FC0D-21F2964A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75B50-C268-1926-878B-12A1C80D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C4223-A141-7569-181E-6A552D91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7F766-6C4D-AC49-2A84-4FF93D0C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1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BAB8-2E77-0AC3-AC90-8FAC886D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6EA91-8364-079E-6153-548ABD924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E74EF-DD7C-2371-A775-2515588D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1367C-45D5-66D4-2C5F-B099BCB6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DEB48-C5D0-26B1-8D9B-10D5AD93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0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C2B0-B26A-CC2E-3F5D-230403A4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97572-C259-67E8-B8C8-7E1CD4A96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31729-E682-E2B1-7A0E-0CD12AA7F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ACC46-D61F-B1D3-A833-81547C03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7E681-FD90-4CA9-0B29-7A8B8F7D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FF424-F4F3-799C-D118-2EDBA0B9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6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E5911-4E4A-142F-841F-75F8C320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74612-1F7B-8296-7BA9-7B40AAA8A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324EE-3BE0-D6D4-946C-E03E24209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EC87E-7E6E-56F4-26DC-405D75BC5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B40F3-2C94-F5D1-70CE-2DCCFB0DB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2FD01-B505-BF62-7849-B6292D23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79341-EEFF-C9BF-E0AA-9EEABB26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2D542-3357-01BA-FC88-EF573F6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9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92CF-7FB2-243D-15F5-36AD3AE75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61609-013B-354A-C1D2-866EF2CA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5DF3C-5BED-BF1F-6DF2-46E5B27E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AF420-4D72-2000-3583-33DE738F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3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47AE5-A7E3-5A30-5BDD-CC2CE489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A001F-CDDA-2DB5-3176-A4BADC95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B3BE5-D1BA-0AAE-B80E-8A329F8E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3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A57A-30FC-B369-9B8D-58264AE3E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45F0-4323-7F70-DA05-E59E5E200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BA5D3-5A18-A285-09EF-6564803E8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B3ABD-AB0A-32C9-00A3-7BC6E11F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DCB1F-9CAF-CC2D-433D-1F2C4BD9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C7775-04A7-5DF2-17F1-019803AF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33D4-3FE8-2A89-1303-017483B7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72706-6C19-39E7-FA87-6786BB3CD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D0079-F008-B43C-6B27-1F533B2C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72124-E9CA-A5F5-68B9-4E971EC3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459C9-7D61-55FA-1699-411369B1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007A7-E539-69B1-312D-D189890E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3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22A1-503B-E8C3-5A27-DAAF6E55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9B74E-43AD-C33B-1D60-C6954D062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D85C4-100B-4F5C-5A4D-60D8EB6E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32132-E4EA-7BC4-A525-3C6DD9FA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A47EF-F812-B55F-A2DB-B509F709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6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0E9F3-4969-0B10-10E1-AF799294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8D1F3-435A-9CCD-44EC-63B142FC4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98247-522B-B281-0809-CF7E0265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77093-D2CC-D774-A5C4-4FAFEFEA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8B629-6FBD-7170-2E4C-0C0BAF96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4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6F57D-20D4-0A46-1139-3FC311FD7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9C454-F7C6-64FB-F2A2-7592C8462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3CF3-6C3B-BB20-1076-DD2547D11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9689B-7525-4F4D-B74D-200A6F730B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36AE2-3565-3C6B-592E-0967662E9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C000-248D-9A4A-2555-EA91DAB84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7D988-415A-48AC-828C-F8A974CB4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4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rchissave5112@gmail.com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archis-save/" TargetMode="External"/><Relationship Id="rId4" Type="http://schemas.openxmlformats.org/officeDocument/2006/relationships/hyperlink" Target="https://github.com/Archis-Sa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AED96C-851D-498C-D98A-1D7157CA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E1B877-193A-63B0-2CAD-893B9F58E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0772"/>
            <a:ext cx="9144000" cy="2387600"/>
          </a:xfrm>
        </p:spPr>
        <p:txBody>
          <a:bodyPr>
            <a:normAutofit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Sales Performance &amp; Operational Dashboard 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BC7CA-95DB-2AD9-9BD7-6FE0B173D0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Strategic Dashboard Insights &amp; Business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621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91654B-20B6-C34B-22B1-D5A54F192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71C4E8-2BCC-72B7-C4A6-CC40F7D7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Company Background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DCCF-8C0F-3554-0B0C-7888A345A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E-commerce business operating in B2B and B2C segments.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Offers multiple product categories across various locations.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Uses different fulfillment and courier partners.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Objective: Improve revenue growth, operational efficiency, and customer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02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9898F3-0C01-5447-12B4-00201AF4F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5ED20D-1936-F945-A08B-BA586B76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Problem Statement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0CCB-BF7C-F876-1432-2D582B5D4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Understand revenue growth trends over time.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Identify high-performing locations and categories.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Analyze cancellation impact on revenue.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Evaluate fulfillment efficiency (B2B vs B2C).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Improve customer satisfaction and reduce cancellations.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2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70B8C-81E1-53E9-012E-5D3542959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9"/>
            <a:ext cx="12192001" cy="6842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D0EE8E-AAF9-DF46-2203-4FF83F22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Project Challenges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58AA-D71B-75E9-9442-9B7CA6C4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Data cleaning &amp; date transformation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Building drill-down time hierarchy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No Customer ID for retention insights</a:t>
            </a:r>
          </a:p>
          <a:p>
            <a:pPr marL="342900" indent="-342900" defTabSz="457200">
              <a:lnSpc>
                <a:spcPct val="10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KPI modeling &amp; relationship setup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6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8B9EC5-D7D7-1DD7-E46D-8A816800A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0DAA9F-94A3-5388-62FD-44B8C87D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646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 Performance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7C5B4B-39DE-DB48-3A71-2FB208640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1181686"/>
            <a:ext cx="11676184" cy="557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1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A550E5-1169-E5C8-3CF8-D9814BF35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49C12A-6ED4-2118-6561-D4E3FF55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18255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KPI Overview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DCECC-5175-6B65-0DE0-E77145912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970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 Orders – Measures demand volume.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 Revenue – Measures financial performance.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AOV – Indicates average transaction size.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Cancelled Orders – Tracks order loss.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Cancellation Rate – Measures service efficiency.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AED3A-61EC-7779-8C43-0D4650119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" t="11324" r="33061" b="74193"/>
          <a:stretch>
            <a:fillRect/>
          </a:stretch>
        </p:blipFill>
        <p:spPr>
          <a:xfrm>
            <a:off x="634218" y="4398021"/>
            <a:ext cx="1067506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00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146548-02E6-1789-C5A2-E60C8E5B5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0A23C-2277-A1CD-1758-3AAF49D2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-134889"/>
            <a:ext cx="10515600" cy="1144588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Revenue Growth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4A353-25DB-BB78-23E3-88A618FFF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954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Identify seasonal &amp; growth patterns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Revenue shows periodic fluctuations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Enables forecasting &amp; inventory planning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F6CE1-F160-4734-71F3-81D244FF8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"/>
          <a:stretch>
            <a:fillRect/>
          </a:stretch>
        </p:blipFill>
        <p:spPr>
          <a:xfrm>
            <a:off x="838200" y="2626455"/>
            <a:ext cx="5084299" cy="4141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BF9C3A-3A33-0945-BDFE-27B8676D3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" r="2206"/>
          <a:stretch>
            <a:fillRect/>
          </a:stretch>
        </p:blipFill>
        <p:spPr>
          <a:xfrm>
            <a:off x="6243576" y="2626455"/>
            <a:ext cx="4969547" cy="41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4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270A9A-146F-5A4B-7337-F236F9EFE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30120A-8BF2-3D0F-AD30-1F81C8B24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24" y="-180975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Top Performing Locations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E76A1-9453-B575-608A-74836EA31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7102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Compare regional revenue contribution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Revenue concentrated in specific states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Guides regional expansion &amp; targeting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DF6D5-13B0-1D87-B090-0CA6591DE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" r="1087"/>
          <a:stretch>
            <a:fillRect/>
          </a:stretch>
        </p:blipFill>
        <p:spPr>
          <a:xfrm>
            <a:off x="2854360" y="2658794"/>
            <a:ext cx="6181327" cy="40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7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5A5667-68E2-28BF-0F76-43AD6A7B6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7BC962-E6CB-73AB-39D4-F09A7B31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-197584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Revenue vs Cancellation Impact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2F4B5-CDF2-C4A5-51FB-98D0A2E1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00210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Measure revenue leakage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High cancellation months reduce net revenue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Operational improvement opportunity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94996-0D69-6509-8920-75917C97A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"/>
          <a:stretch>
            <a:fillRect/>
          </a:stretch>
        </p:blipFill>
        <p:spPr>
          <a:xfrm>
            <a:off x="2653413" y="2503655"/>
            <a:ext cx="6266194" cy="417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6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891434-07BE-A9C9-9864-1E0174D7A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E34840-88C1-504F-047C-6A247745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-180975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Fulfillment by B2B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548B4-ED1B-D305-D4B3-2D7377630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4615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Understand fulfillment distribution within B2B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Shows dependency on specific fulfillment methods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Identifies logistics optimization opportunities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BEC85-0816-B3BE-680F-9CBC55F78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310" y="2560320"/>
            <a:ext cx="4977619" cy="41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5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4F84E1-0906-2560-7A0B-64C206D9E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771"/>
            <a:ext cx="12403016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AF454-68E7-B5B4-A150-F215081D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-180975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B2B vs B2C Orders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ADBD4-4739-6063-7157-B89A12B4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412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Compare order share by business segment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Identifies dominant revenue driver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Supports strategic resource allocation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F9055-8DDC-AF3C-1BE7-D4B59B06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" r="1304"/>
          <a:stretch>
            <a:fillRect/>
          </a:stretch>
        </p:blipFill>
        <p:spPr>
          <a:xfrm>
            <a:off x="4061655" y="2535848"/>
            <a:ext cx="4068689" cy="418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6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2F978-B133-83F0-9C5B-2B64AC13B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5D6CC-33E1-4BD7-98C1-75F07C2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52" y="-180975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High Demand Categories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F248-E6CA-FA20-05B7-4268A15DA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4615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Identify top-performing categories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Few categories dominate revenue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Inventory &amp; procurement optimization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B62A5-3F44-8266-09BE-C9387970C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"/>
          <a:stretch>
            <a:fillRect/>
          </a:stretch>
        </p:blipFill>
        <p:spPr>
          <a:xfrm>
            <a:off x="3377320" y="2517124"/>
            <a:ext cx="5043464" cy="433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5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7686AC-5D73-2697-34DD-D1D8ABC8A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2BBB04-5B5C-6459-9122-33499676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-180975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Average Order Value Trend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3D715-4D4A-1A93-EE87-9838EDEE8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8683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Measure transaction size growth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AOV trend indicates pricing &amp; bundling effect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Determines quality of revenue growth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EEEDA-18D5-640A-DD2E-143FA1F6B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" r="1528"/>
          <a:stretch>
            <a:fillRect/>
          </a:stretch>
        </p:blipFill>
        <p:spPr>
          <a:xfrm>
            <a:off x="3676357" y="2531306"/>
            <a:ext cx="4473526" cy="421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66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DB8A9C-DDAA-1510-28BE-9B600B032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9EF2D-1C6D-4F7C-6D22-8DA4ABF1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88" y="-296056"/>
            <a:ext cx="10515600" cy="1325563"/>
          </a:xfrm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Order Status Funnel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338B-1DDF-A171-D771-06E3C1D03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1128"/>
            <a:ext cx="10515600" cy="435133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Purpose: Track order lifecycle efficiency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Insight: Drop-offs observed before delivery stage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Impact: Process &amp; logistics improvement area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FCC24-203E-989C-3995-B84F96C02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89" y="2366242"/>
            <a:ext cx="10950526" cy="435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12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45E8B1-29F4-BAE2-99BF-405F86CFB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E13C89-8F6C-5D46-ED64-240F62B7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Interactive Filters Used in Dashboard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4D48C-8031-9175-A28E-6015ED5FE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Fulfillment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Courier Status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Ship State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B2B Segment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342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6FCBF7-482B-7E2A-8FC7-C2C876ADA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F74CC1-B3FD-2331-C15F-AFF56B47F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717"/>
            <a:ext cx="10515600" cy="1325563"/>
          </a:xfrm>
        </p:spPr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Conclusion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E1306-EEBF-60C2-5B37-C28484A80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536"/>
            <a:ext cx="10515600" cy="5242144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From the revenue growth analysis with month-wise, weekday-wise, and date-wise drill-down, we identified clear seasonal trends and daily buying patterns. Revenue is influenced by specific months and peak weekdays, which can be leveraged for better forecasting and campaign planning.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The top-performing location analysis showed that revenue is concentrated in certain regions, highlighting strong markets as well as opportunities for improvement in underperforming areas.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The Total Revenue vs Cancellation Rate analysis revealed that revenue growth must be evaluated alongside cancellation percentage, as higher cancellations directly impact revenue quality and profitability.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The B2B vs B2C orders segmentation highlighted the company’s dependency on specific customer segments, while the Fulfillment by B2B analysis provided operational insight into distribution and logistics structure.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The high-demand category analysis identified key product drivers contributing most to revenue, supporting better inventory and marketing decisions.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The AOV trend analysis showed changes in customer spending behavior, indicating whether revenue growth is driven by higher order volume or increased basket size.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The order status funnel revealed process-stage drop-offs, helping identify operational inefficiencies that affect order completion.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Finally, KPI indicators and interactive filters allow real-time monitoring and dynamic analysis across fulfillment type, category, courier status, location, segment, and time. 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This dashboard transforms raw transactional data into structured, actionable insights that support strategic growth, operational optimization, and data-driven decision-making.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chemeClr val="bg1"/>
                </a:solidFill>
              </a:rPr>
              <a:t>Data becomes powerful when it drives decisions and that’s the purpose of this dashboard.</a:t>
            </a:r>
          </a:p>
        </p:txBody>
      </p:sp>
    </p:spTree>
    <p:extLst>
      <p:ext uri="{BB962C8B-B14F-4D97-AF65-F5344CB8AC3E}">
        <p14:creationId xmlns:p14="http://schemas.microsoft.com/office/powerpoint/2010/main" val="1405236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0C1237-3FB2-8F7D-01F1-F5B0EF683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A7DEC-0533-66E3-9329-FAE06D39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Recommendations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B2F8A-2BB6-FBA1-0320-69ACC0EF3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Reduce cancellations via fulfillment tracking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Invest in high-demand categories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Expand focus in top-performing regions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Improve AOV through bundling &amp; upselling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Enhance logistics monitoring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3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095DA-E90C-85CF-2BB0-338ACFA09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"/>
            <a:ext cx="12192001" cy="6851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855C35-713F-8F1B-986B-024394B7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849" y="1336430"/>
            <a:ext cx="5050302" cy="1623571"/>
          </a:xfr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Thank You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F492E-22EE-D2B6-823A-470EEBC2A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583"/>
            <a:ext cx="10515600" cy="4351338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Thank you for your time and attention.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further discussion, please connect with me: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r>
              <a:rPr lang="fr-FR" sz="2400" dirty="0"/>
              <a:t>📧 </a:t>
            </a:r>
            <a:r>
              <a:rPr lang="fr-FR" sz="2400" b="1" dirty="0"/>
              <a:t>Email:</a:t>
            </a:r>
            <a:r>
              <a:rPr lang="fr-FR" sz="2400" dirty="0"/>
              <a:t> </a:t>
            </a:r>
            <a:r>
              <a:rPr lang="fr-FR" sz="2400" dirty="0">
                <a:hlinkClick r:id="rId3"/>
              </a:rPr>
              <a:t>archissave5112@gmail.com</a:t>
            </a:r>
            <a:endParaRPr lang="fr-FR" sz="2400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r>
              <a:rPr lang="en-US" sz="2400" dirty="0"/>
              <a:t>💻 </a:t>
            </a:r>
            <a:r>
              <a:rPr lang="en-US" sz="2400" b="1" dirty="0"/>
              <a:t>GitHub:</a:t>
            </a:r>
            <a:r>
              <a:rPr lang="en-US" sz="2400" dirty="0"/>
              <a:t> </a:t>
            </a:r>
            <a:r>
              <a:rPr lang="en-US" sz="2400" dirty="0">
                <a:hlinkClick r:id="rId4"/>
              </a:rPr>
              <a:t>https://github.com/Archis-Save</a:t>
            </a:r>
            <a:endParaRPr lang="en-US" sz="2400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E6E6E6"/>
                </a:solidFill>
                <a:latin typeface="Calibri"/>
              </a:defRPr>
            </a:pPr>
            <a:r>
              <a:rPr lang="en-US" sz="2400" dirty="0"/>
              <a:t>🔗 </a:t>
            </a:r>
            <a:r>
              <a:rPr lang="en-US" sz="2400" b="1" dirty="0"/>
              <a:t>LinkedIn:</a:t>
            </a:r>
            <a:r>
              <a:rPr lang="en-US" sz="2400" dirty="0"/>
              <a:t> </a:t>
            </a:r>
            <a:r>
              <a:rPr lang="en-US" sz="2400" i="0" u="none" strike="noStrike" dirty="0">
                <a:effectLst/>
                <a:hlinkClick r:id="rId5"/>
              </a:rPr>
              <a:t>linkedin.com/in/archis-save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943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</TotalTime>
  <Words>681</Words>
  <Application>Microsoft Office PowerPoint</Application>
  <PresentationFormat>Widescreen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Sales Performance &amp; Operational Dashboard Analysis</vt:lpstr>
      <vt:lpstr>Company Background</vt:lpstr>
      <vt:lpstr>Problem Statement</vt:lpstr>
      <vt:lpstr>Project Challenges</vt:lpstr>
      <vt:lpstr>Sales Performance Dashboard Overview</vt:lpstr>
      <vt:lpstr>KPI Overview</vt:lpstr>
      <vt:lpstr>Revenue Growth Analysis</vt:lpstr>
      <vt:lpstr>Top Performing Locations</vt:lpstr>
      <vt:lpstr>Revenue vs Cancellation Impact</vt:lpstr>
      <vt:lpstr>Fulfillment by B2B</vt:lpstr>
      <vt:lpstr>B2B vs B2C Orders</vt:lpstr>
      <vt:lpstr>High Demand Categories</vt:lpstr>
      <vt:lpstr>Average Order Value Trend</vt:lpstr>
      <vt:lpstr>Order Status Funnel</vt:lpstr>
      <vt:lpstr>Interactive Filters Used in Dashboard</vt:lpstr>
      <vt:lpstr>Conclusion</vt:lpstr>
      <vt:lpstr>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archissave512@gmail.com</dc:creator>
  <cp:lastModifiedBy>archissave512@gmail.com</cp:lastModifiedBy>
  <cp:revision>13</cp:revision>
  <dcterms:created xsi:type="dcterms:W3CDTF">2026-02-14T07:27:39Z</dcterms:created>
  <dcterms:modified xsi:type="dcterms:W3CDTF">2026-02-17T20:33:46Z</dcterms:modified>
</cp:coreProperties>
</file>